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18"/>
    <a:srgbClr val="F9C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09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사이(sai)는 사람과 사람, 시차와 시차, 의도와 해석 사이의 공간이다. 그래서 S·AI다. Space·Sync·Style 세 기둥으로 이어간다.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줄이 핵심입니다 — 톤 문제가 아니라 지시 내용이 바뀐 실측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구도를 '품질'이 아니라 '검증 유무'로 잡습니다. 품질로 싸우면 증명할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지점 = 작성 / 수신 / 발송. 하나의 확장 안에서 전부 일어납니다. AI가 고쳐 주는 게 아니라, 보내기 전에 한 번 더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결론은 한 줄입니다 — 정중함과 정확함 중 하나를 골라야 한다면 우리는 정확함을 택했습니다. 미국·호주·캐나다는 세계에서 가장 저맥락 문화입니다(에린 마이어 컬처맵). 한계도 같이 말합니다 — 관계 유형(동료/협력사/고객) 축은 아직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덱에서 가장 강한 슬라이드입니다. 전부 실측 사례라 구체적으로 답할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질문이 나오면 이 슬라이드로 돌아옵니다.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물으면 출처를 그대로 읽습니다. 실사용자 데이터는 없다고 답합니다 — 10일 해커톤입니다.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단위는 해외 협업 팀 — 기계번역 시장이 곧 우리 시장은 아니다. 확산은 결재 없이 개인에서 팀으로 번진다. 기능은 베껴도 실측 규칙은 못 베낀다.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761189" y="4298817"/>
            <a:ext cx="420173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830"/>
              </a:lnSpc>
              <a:buNone/>
            </a:pPr>
            <a:r>
              <a:rPr lang="en-US" sz="15000" b="1" kern="0" spc="-4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0" b="1" kern="0" spc="-450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5000" b="1" kern="0" spc="-4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818046" y="4964225"/>
            <a:ext cx="11326954" cy="12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77"/>
              </a:lnSpc>
              <a:buNone/>
            </a:pPr>
            <a:r>
              <a:rPr lang="en-US" sz="42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People, Time, and Space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870342" y="6609966"/>
            <a:ext cx="816475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업무 메시지 AI 교정 </a:t>
            </a:r>
            <a:r>
              <a:rPr lang="en-US" sz="2550" dirty="0" err="1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크롬</a:t>
            </a:r>
            <a:r>
              <a:rPr lang="en-US" sz="25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50" dirty="0" err="1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</a:t>
            </a:r>
            <a:r>
              <a:rPr lang="en-US" sz="25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55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</a:t>
            </a:r>
            <a:endParaRPr lang="en-US" sz="2550" dirty="0"/>
          </a:p>
        </p:txBody>
      </p:sp>
      <p:pic>
        <p:nvPicPr>
          <p:cNvPr id="11" name="그림 10" descr="Sai 로고 시안-selection">
            <a:extLst>
              <a:ext uri="{FF2B5EF4-FFF2-40B4-BE49-F238E27FC236}">
                <a16:creationId xmlns:a16="http://schemas.microsoft.com/office/drawing/2014/main" id="{8BF25718-4051-8CDE-7DB2-19DC655D2A4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</a:blip>
          <a:srcRect l="20291" r="23691"/>
          <a:stretch>
            <a:fillRect/>
          </a:stretch>
        </p:blipFill>
        <p:spPr>
          <a:xfrm>
            <a:off x="1154241" y="2276129"/>
            <a:ext cx="2310180" cy="18818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1A4AE09-1402-D6F0-DD5E-1BD2BED205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문제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번역은 됐는데, 관계가 상했다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3329732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361548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쓴 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4122093"/>
            <a:ext cx="854964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오늘까지 배포해야 합니다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372600" y="3615482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상대가 받은 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72600" y="4122093"/>
            <a:ext cx="854964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rollout must be completed today.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372600" y="4737348"/>
            <a:ext cx="854964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명령·질책으로 읽힘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5607844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5893594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쓴 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400205"/>
            <a:ext cx="854964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기획서도 확인 부탁드려요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372600" y="5893594"/>
            <a:ext cx="85496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상대가 받은 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72600" y="6400205"/>
            <a:ext cx="854964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review the product spec.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372600" y="7015460"/>
            <a:ext cx="854964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다른 문서를 검토함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8370689"/>
            <a:ext cx="1227738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 줄은 실측이다. 「기획서」를 서로 다른 번역기가 product spec · project plan으로 옮겼다 — 톤이 아니라 무엇을 하라는지가 바뀌었다.</a:t>
            </a:r>
            <a:endParaRPr lang="en-US" sz="21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6FED5F1-8B8F-0273-E0EB-A03F33A2A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왜 기존 도구로 안 되나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4500" b="1" kern="0" spc="-9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아무도 "틀리지 않았는지"를 확인하지 않는다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4892686"/>
            <a:ext cx="4978301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5140336"/>
            <a:ext cx="547613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번역기</a:t>
            </a:r>
            <a:r>
              <a:rPr lang="en-US" sz="2550" b="1" kern="0" spc="-3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언어 변환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707073"/>
            <a:ext cx="512765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톤·긴급도·상대 맥락이 없다. 결과를 검증하지 않는다.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654701" y="4892686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54701" y="5140336"/>
            <a:ext cx="547629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문법 교정기</a:t>
            </a:r>
            <a:r>
              <a:rPr lang="en-US" sz="2550" b="1" kern="0" spc="-3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문장 다듬기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654701" y="5707073"/>
            <a:ext cx="5476295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사이에서 생기는 오해는 다루지 않는다.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166550" y="4892686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166550" y="5140336"/>
            <a:ext cx="547629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챗봇</a:t>
            </a:r>
            <a:r>
              <a:rPr lang="en-US" sz="2550" b="1" kern="0" spc="-3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다 되지만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166550" y="5707073"/>
            <a:ext cx="51278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창을 옮겨야 하고, 회사 메시지를 붙여넣어야 한다.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43000" y="8671620"/>
            <a:ext cx="1349502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쓰던 창에서, 보내기 전에, 검증까지.</a:t>
            </a:r>
            <a:endParaRPr lang="en-US" sz="2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E45F2A4-6322-D1C9-9637-C2B1169B4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해결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지점에서 끼어든다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4691583"/>
            <a:ext cx="4978301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4939233"/>
            <a:ext cx="547613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보내기 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5445844"/>
            <a:ext cx="54761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 · 긴급도 · 역번역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6026869"/>
            <a:ext cx="512765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긴급도를 1차 판정하고, 상대에게 어떻게 읽히는지 되돌려 보여준다.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654701" y="4691583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54701" y="4939233"/>
            <a:ext cx="54762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받은 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4701" y="5445844"/>
            <a:ext cx="54762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수신 해독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654701" y="6026869"/>
            <a:ext cx="51278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직역 / 실제 의도 / 체감 긴급도 / 요구 행동 — 네 축으로 푼다.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166550" y="4691583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66550" y="4939233"/>
            <a:ext cx="54762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보낼 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6550" y="5445844"/>
            <a:ext cx="54762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· 예약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166550" y="6026869"/>
            <a:ext cx="51278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현지 시각과 공휴일을 보고 보낼 때를 제안한다.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8743950"/>
            <a:ext cx="126515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고쳐 주는 게 아니라, 보내기 전에 한 번 더 보여줍니다.</a:t>
            </a:r>
            <a:endParaRPr lang="en-US" sz="225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AA17961-460F-D8DC-850D-2E52BE85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데모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 대신, 화면으로 보여드립니다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4691583"/>
            <a:ext cx="4978301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4939233"/>
            <a:ext cx="547613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5445844"/>
            <a:ext cx="54761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6026869"/>
            <a:ext cx="512765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문장을 끌면 그 자리에 팝업이 뜬다. 창을 옮기지 않는다.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654701" y="4691583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54701" y="4939233"/>
            <a:ext cx="54762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54701" y="5445844"/>
            <a:ext cx="54762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654701" y="6026869"/>
            <a:ext cx="51278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교정문과 역번역을 나란히 본다. 무엇이 바뀌었는지 표시된다.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166550" y="4691583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66550" y="4939233"/>
            <a:ext cx="54762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6550" y="5445844"/>
            <a:ext cx="54762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166550" y="6026869"/>
            <a:ext cx="512780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누르면 원문이 교체된다. 마음에 안 들면 되돌린다.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8743950"/>
            <a:ext cx="126515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→ 확인 → 적용. 15초면 끝납니다.</a:t>
            </a:r>
            <a:endParaRPr lang="en-US" sz="225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A1495C-780D-D03F-78C0-F98BD066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설계 판단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무조건 공손하게 풀지 않는가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2948732"/>
            <a:ext cx="12142489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원문: "배포는 반드시 오늘까지 해야 합니다." — 강도는 사용자가 고른다. 긴급도는 압박을, 캐주얼은 격식을 정한다. 마감은 네 칸 모두에 살아 있다.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134475" y="4203055"/>
            <a:ext cx="19050" cy="4163764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43000" y="6275338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4203055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캐주얼 OFF · </a:t>
            </a:r>
            <a:r>
              <a:rPr lang="en-US" sz="1800" b="1" kern="0" spc="108" dirty="0">
                <a:solidFill>
                  <a:srgbClr val="FF6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800" dirty="0">
              <a:solidFill>
                <a:srgbClr val="FF6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4633466"/>
            <a:ext cx="813054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completed by today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753600" y="4203055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캐주얼 </a:t>
            </a: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800" b="1" kern="0" spc="108" dirty="0">
                <a:solidFill>
                  <a:srgbClr val="FF60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800" dirty="0">
              <a:solidFill>
                <a:srgbClr val="FF6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0" y="4633466"/>
            <a:ext cx="813054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deploy this by today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456313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캐주얼 OFF · 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886724"/>
            <a:ext cx="813054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 ensure… by today when you get a chance?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53600" y="6456313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캐주얼 </a:t>
            </a: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800" b="1" kern="0" spc="108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53600" y="6886724"/>
            <a:ext cx="813054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Hey, could you make sure to deploy this by today?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8671620"/>
            <a:ext cx="1305267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정중함과 정확함 중 하나를 골라야 한다면, 우리는 정확함을 택했습니다.</a:t>
            </a:r>
            <a:endParaRPr lang="en-US" sz="2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F0128E-8125-3F64-0B71-93F75BE5B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차별점 · 핵심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1862879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우리는 AI를 믿지 않습니다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2787171"/>
            <a:ext cx="1760220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아래는 전부 개발 중 실제로 잡은 결함과, 코드가 지키는 방어선이다.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345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69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역번역이 내 언어로 안 오면 감춘다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425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한→중 교정에서 역번역이 중국어로 나왔다 — 확인이 불가능해진다.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448800" y="345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448800" y="369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 이름·호칭을 만들면 경고한다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448800" y="425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수신자 「싱싱」이 上晦先生/女士로 바뀌었다 — 없는 이름과 호칭.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530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554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마감·회의를 막는다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43000" y="610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지어낸 약속은 자리표시자로 비우고, 코드가 원문과 대조한다.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448800" y="530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448800" y="554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실패하면 실패했다고 쓴다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448800" y="610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원문을 그대로 두고 「교정하지 못했어요」를 띄운다.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43000" y="9050000"/>
            <a:ext cx="1349502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확률적입니다. 그래서 프롬프트로 부탁하지 않고, 결과를 코드가 검사합니다.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1143000" y="715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1"/>
          <p:cNvSpPr/>
          <p:nvPr/>
        </p:nvSpPr>
        <p:spPr>
          <a:xfrm>
            <a:off x="1143000" y="739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문체가 「의미」를 바꾸지 못하게 막는다</a:t>
            </a:r>
            <a:endParaRPr lang="en-US" sz="2550" dirty="0"/>
          </a:p>
        </p:txBody>
      </p:sp>
      <p:sp>
        <p:nvSpPr>
          <p:cNvPr id="21" name="Text 12"/>
          <p:cNvSpPr/>
          <p:nvPr/>
        </p:nvSpPr>
        <p:spPr>
          <a:xfrm>
            <a:off x="1143000" y="795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「배포하셔도 됩니다」(허가)가 Could you proceed?(요청)로 뒤집혔다.</a:t>
            </a:r>
            <a:endParaRPr lang="en-US" sz="2025" dirty="0"/>
          </a:p>
        </p:txBody>
      </p:sp>
      <p:sp>
        <p:nvSpPr>
          <p:cNvPr id="22" name="Shape 13"/>
          <p:cNvSpPr/>
          <p:nvPr/>
        </p:nvSpPr>
        <p:spPr>
          <a:xfrm>
            <a:off x="9448800" y="7150000"/>
            <a:ext cx="76962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4"/>
          <p:cNvSpPr/>
          <p:nvPr/>
        </p:nvSpPr>
        <p:spPr>
          <a:xfrm>
            <a:off x="9448800" y="7397650"/>
            <a:ext cx="84658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974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민감정보는 나가기 전에 막는다</a:t>
            </a:r>
            <a:endParaRPr lang="en-US" sz="2550" dirty="0"/>
          </a:p>
        </p:txBody>
      </p:sp>
      <p:sp>
        <p:nvSpPr>
          <p:cNvPr id="24" name="Text 15"/>
          <p:cNvSpPr/>
          <p:nvPr/>
        </p:nvSpPr>
        <p:spPr>
          <a:xfrm>
            <a:off x="9448800" y="7954863"/>
            <a:ext cx="792708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키·주민번호는 브라우저 안에서 막는다 — 네트워크를 쓰지 않는다.</a:t>
            </a:r>
            <a:endParaRPr lang="en-US" sz="2025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7E21FC3-C8D5-8BA2-0D04-40120BB122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차별점 · 신뢰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 하는 것으로 지킨다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4755932"/>
            <a:ext cx="4978301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5003582"/>
            <a:ext cx="54761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Retention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5536982"/>
            <a:ext cx="512765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본문을 서버·DB·로그에 저장하지 않는다. 올라가는 것은 정수 카운트뿐이고, 전용 테스트가 이를 강제한다.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54701" y="4755932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54701" y="5003582"/>
            <a:ext cx="54762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국가로 판단하지 않는다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54701" y="5536982"/>
            <a:ext cx="512780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참고하는 것은 「국민성」이 아니라 언어 사용 관례다. 코드 수준 금지 규칙으로 박아 두었다.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166550" y="4755932"/>
            <a:ext cx="497845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166550" y="5003582"/>
            <a:ext cx="54762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108"/>
              </a:lnSpc>
              <a:buNone/>
            </a:pPr>
            <a:r>
              <a:rPr lang="en-US" sz="2400" b="1" kern="0" spc="-3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사람에게 점수를 매기지 않는다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166550" y="5536982"/>
            <a:ext cx="512780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201E1D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가이드는 고정된 서술형 태그뿐, 숫자·등급·순위가 없다.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8671620"/>
            <a:ext cx="1156716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본문을 안 받으면 유출될 것도 없습니다.</a:t>
            </a:r>
            <a:endParaRPr lang="en-US" sz="2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9613D93-B6C3-919F-4514-02E9C85BA3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검증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숫자는 전부 출처가 있다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5567932"/>
            <a:ext cx="5623143" cy="2564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5365"/>
              </a:lnSpc>
              <a:buNone/>
            </a:pPr>
            <a:r>
              <a:rPr lang="en-US" sz="25500" b="1" kern="0" spc="-765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775</a:t>
            </a:r>
            <a:endParaRPr lang="en-US" sz="25500" dirty="0"/>
          </a:p>
        </p:txBody>
      </p:sp>
      <p:sp>
        <p:nvSpPr>
          <p:cNvPr id="6" name="Shape 4"/>
          <p:cNvSpPr/>
          <p:nvPr/>
        </p:nvSpPr>
        <p:spPr>
          <a:xfrm>
            <a:off x="6864548" y="6148957"/>
            <a:ext cx="19050" cy="1030486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4598" y="6148957"/>
            <a:ext cx="3961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 통과 / 0 실패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264598" y="6672832"/>
            <a:ext cx="396180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7917210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43000" y="8241060"/>
            <a:ext cx="547613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언어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8701088"/>
            <a:ext cx="547613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— en zh ja de fr es ko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54701" y="8241060"/>
            <a:ext cx="547629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검사하는 방어 규칙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54701" y="8701088"/>
            <a:ext cx="547629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66550" y="8241060"/>
            <a:ext cx="547629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서버에 저장된 메시지 본문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66550" y="8701088"/>
            <a:ext cx="547629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EC8609A-3646-85FC-4810-DBF5B85A6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시장과 실행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49721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2049661"/>
            <a:ext cx="1760220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22"/>
              </a:lnSpc>
              <a:buNone/>
            </a:pPr>
            <a:r>
              <a:rPr lang="en-US" sz="4800" b="1" kern="0" spc="-9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통역을 둘 수 없는 중간지대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34475" y="3253532"/>
            <a:ext cx="19050" cy="5185618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43000" y="5836741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143000" y="3253532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규모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02993"/>
            <a:ext cx="81305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233"/>
              </a:lnSpc>
              <a:buNone/>
            </a:pPr>
            <a:r>
              <a:rPr lang="en-US" sz="39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25,953개사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43000" y="4293543"/>
            <a:ext cx="8130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수출 시장 신규 진입 — 최근 5년 내 최대치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753600" y="3253532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3702993"/>
            <a:ext cx="813054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무료 · 팀 구독 · 인앱 포인트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753600" y="4243983"/>
            <a:ext cx="8130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구독은 용어집·대시보드·보안을 포함한다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43000" y="5998666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확산 구조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6448127"/>
            <a:ext cx="813054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43000" y="6989118"/>
            <a:ext cx="8130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결재 없이 설치되고, 용어집·수신자 설정이 팀으로 번진다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53600" y="5998666"/>
            <a:ext cx="81305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08" dirty="0">
                <a:solidFill>
                  <a:srgbClr val="F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우위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53600" y="6448127"/>
            <a:ext cx="813054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해자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753600" y="6989118"/>
            <a:ext cx="81305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201E1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Grammarly는 내 글을 다듬고, 우리는 수신자를 쌓는다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43000" y="8743950"/>
            <a:ext cx="126515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통역은 못 두고, 틀려도 되지는 않는다 — 기능은 베껴도 실측 규칙은 못 베낀다.</a:t>
            </a:r>
            <a:endParaRPr lang="en-US" sz="225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9BCAD93-BA43-9403-0AAD-66321062B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76" t="40553" r="31363" b="40047"/>
          <a:stretch>
            <a:fillRect/>
          </a:stretch>
        </p:blipFill>
        <p:spPr>
          <a:xfrm>
            <a:off x="15506163" y="421258"/>
            <a:ext cx="2459865" cy="6321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3549402"/>
            <a:ext cx="914400" cy="57150"/>
          </a:xfrm>
          <a:prstGeom prst="rect">
            <a:avLst/>
          </a:prstGeom>
          <a:solidFill>
            <a:srgbClr val="FF6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43000" y="3911352"/>
            <a:ext cx="12571250" cy="2013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235"/>
              </a:lnSpc>
              <a:buNone/>
            </a:pPr>
            <a:r>
              <a:rPr lang="en-US" sz="7200" b="1" kern="0" spc="-14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번역은 이미 잘 됩니다. 우리는 그다음을 </a:t>
            </a:r>
            <a:r>
              <a:rPr lang="en-US" sz="7200" b="1" kern="0" spc="-144" dirty="0">
                <a:solidFill>
                  <a:srgbClr val="009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만듭니다</a:t>
            </a:r>
            <a:r>
              <a:rPr lang="en-US" sz="7200" b="1" kern="0" spc="-14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8521154"/>
            <a:ext cx="16002000" cy="19050"/>
          </a:xfrm>
          <a:prstGeom prst="rect">
            <a:avLst/>
          </a:prstGeom>
          <a:solidFill>
            <a:srgbClr val="201E1D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43000" y="8730704"/>
            <a:ext cx="5542761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S·AI — Bridging People, Time, and Space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961</Words>
  <Application>Microsoft Office PowerPoint</Application>
  <PresentationFormat>사용자 지정</PresentationFormat>
  <Paragraphs>135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박수홍</cp:lastModifiedBy>
  <cp:revision>3</cp:revision>
  <dcterms:created xsi:type="dcterms:W3CDTF">2026-08-20T20:18:38Z</dcterms:created>
  <dcterms:modified xsi:type="dcterms:W3CDTF">2026-08-20T23:16:13Z</dcterms:modified>
</cp:coreProperties>
</file>