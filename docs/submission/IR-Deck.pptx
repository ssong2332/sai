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6" r:id="rId17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014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209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사이(sai)는 사람과 사람, 시차와 시차, 의도와 해석 사이의 공간이다. 그래서 S·AI다. Space·Sync·Style 세 기둥으로 이어간다.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줄이 핵심입니다 — 톤 문제가 아니라 지시 내용이 바뀐 실측 사례입니다.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구도를 '품질'이 아니라 '검증 유무'로 잡습니다. 품질로 싸우면 증명할 수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지점 = 작성 / 수신 / 발송. 하나의 확장 안에서 전부 일어납니다. AI가 고쳐 주는 게 아니라, 보내기 전에 한 번 더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결론은 한 줄입니다 — 정중함과 정확함 중 하나를 골라야 한다면 우리는 정확함을 택했습니다. 미국·호주·캐나다는 세계에서 가장 저맥락 문화입니다(에린 마이어 컬처맵). 한계도 같이 말합니다 — 관계 유형(동료/협력사/고객) 축은 아직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덱에서 가장 강한 슬라이드입니다. 전부 실측 사례라 구체적으로 답할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보안 질문이 나오면 이 슬라이드로 돌아옵니다.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물으면 출처를 그대로 읽습니다. 실사용자 데이터는 없다고 답합니다 — 10일 해커톤입니다.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단위는 해외 협업 팀 — 기계번역 시장이 곧 우리 시장은 아니다. 확산은 결재 없이 개인에서 팀으로 번진다. 기능은 베껴도 실측 규칙은 못 베낀다.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PITCH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3036689"/>
            <a:ext cx="1760220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830"/>
              </a:lnSpc>
              <a:buNone/>
            </a:pPr>
            <a:r>
              <a:rPr lang="en-US" sz="15000" b="1" kern="0" spc="-4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15000" b="1" kern="0" spc="-450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r>
              <a:rPr lang="en-US" sz="15000" b="1" kern="0" spc="-4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5170289"/>
            <a:ext cx="8213437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77"/>
              </a:lnSpc>
              <a:buNone/>
            </a:pPr>
            <a:r>
              <a:rPr lang="en-US" sz="42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Bridging People, Time, and Space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143000" y="6816030"/>
            <a:ext cx="8164756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업무 메시지 AI 교정 크롬 확장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43000" y="8789789"/>
            <a:ext cx="3615556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확장 · Firebase · OpenAI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20369" y="8789789"/>
            <a:ext cx="1524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87069" y="8789789"/>
            <a:ext cx="59561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문제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번역은 됐는데, 관계가 상했다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43000" y="3329732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361548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내가 쓴 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4122093"/>
            <a:ext cx="8549640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반드시 오늘까지 배포해야 합니다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372600" y="361548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상대가 받은 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372600" y="4122093"/>
            <a:ext cx="8549640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rollout must be completed today.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372600" y="4737348"/>
            <a:ext cx="854964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명령·질책으로 읽힘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143000" y="5607844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143000" y="5893594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내가 쓴 것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6400205"/>
            <a:ext cx="8549640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기획서도 확인 부탁드려요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372600" y="5893594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상대가 받은 것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72600" y="6400205"/>
            <a:ext cx="8549640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review the product spec.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372600" y="7015460"/>
            <a:ext cx="854964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다른 문서를 검토함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43000" y="8370689"/>
            <a:ext cx="12277387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875"/>
              </a:lnSpc>
              <a:buNone/>
            </a:pPr>
            <a:r>
              <a:rPr lang="en-US" sz="2100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번째 줄은 실측이다. 「기획서」를 서로 다른 번역기가 product spec · project plan으로 옮겼다 — 톤이 아니라 무엇을 하라는지가 바뀌었다.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왜 기존 도구로 안 되나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176"/>
              </a:lnSpc>
              <a:buNone/>
            </a:pPr>
            <a:r>
              <a:rPr lang="en-US" sz="4500" b="1" kern="0" spc="-9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아무도 "틀리지 않았는지"를 확인하지 않는다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143000" y="4892686"/>
            <a:ext cx="4978301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5140336"/>
            <a:ext cx="5476131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번역기</a:t>
            </a:r>
            <a:r>
              <a:rPr lang="en-US" sz="2550" b="1" kern="0" spc="-3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언어 변환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43000" y="5707073"/>
            <a:ext cx="5127650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톤·긴급도·상대 맥락이 없다. 결과를 검증하지 않는다.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6654701" y="4892686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654701" y="5140336"/>
            <a:ext cx="547629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문법 교정기</a:t>
            </a:r>
            <a:r>
              <a:rPr lang="en-US" sz="2550" b="1" kern="0" spc="-3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문장 다듬기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654701" y="5707073"/>
            <a:ext cx="5476295" cy="4109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사이에서 생기는 오해는 다루지 않는다.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12166550" y="4892686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166550" y="5140336"/>
            <a:ext cx="547629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챗봇</a:t>
            </a:r>
            <a:r>
              <a:rPr lang="en-US" sz="2550" b="1" kern="0" spc="-3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다 되지만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166550" y="5707073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창을 옮겨야 하고, 회사 메시지를 붙여넣어야 한다.</a:t>
            </a:r>
            <a:endParaRPr lang="en-US" sz="2025" dirty="0"/>
          </a:p>
        </p:txBody>
      </p:sp>
      <p:sp>
        <p:nvSpPr>
          <p:cNvPr id="14" name="Text 12"/>
          <p:cNvSpPr/>
          <p:nvPr/>
        </p:nvSpPr>
        <p:spPr>
          <a:xfrm>
            <a:off x="1143000" y="8671620"/>
            <a:ext cx="134950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쓰던 창에서, 보내기 전에, 검증까지.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해결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지점에서 끼어든다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43000" y="4691583"/>
            <a:ext cx="4978301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4939233"/>
            <a:ext cx="547613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보내기 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5445844"/>
            <a:ext cx="547613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교정 · 긴급도 · 역번역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143000" y="6026869"/>
            <a:ext cx="5127650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긴급도를 1차 판정하고, 상대에게 어떻게 읽히는지 되돌려 보여준다.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6654701" y="4691583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654701" y="4939233"/>
            <a:ext cx="54762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받은 뒤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54701" y="5445844"/>
            <a:ext cx="54762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수신 해독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654701" y="6026869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직역 / 실제 의도 / 체감 긴급도 / 요구 행동 — 네 축으로 푼다.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2166550" y="4691583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166550" y="4939233"/>
            <a:ext cx="54762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보낼 때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166550" y="5445844"/>
            <a:ext cx="54762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· 예약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166550" y="6026869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상대 현지 시각과 공휴일을 보고 보낼 때를 제안한다.</a:t>
            </a:r>
            <a:endParaRPr lang="en-US" sz="2025" dirty="0"/>
          </a:p>
        </p:txBody>
      </p:sp>
      <p:sp>
        <p:nvSpPr>
          <p:cNvPr id="17" name="Text 15"/>
          <p:cNvSpPr/>
          <p:nvPr/>
        </p:nvSpPr>
        <p:spPr>
          <a:xfrm>
            <a:off x="1143000" y="8743950"/>
            <a:ext cx="1265158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529"/>
              </a:lnSpc>
              <a:buNone/>
            </a:pPr>
            <a:r>
              <a:rPr lang="en-US" sz="225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고쳐 주는 게 아니라, 보내기 전에 한 번 더 보여줍니다.</a:t>
            </a:r>
            <a:endParaRPr lang="en-US" sz="2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데모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쓰던 창에서, 그 자리에서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43000" y="4691583"/>
            <a:ext cx="4978301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4939233"/>
            <a:ext cx="547613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5445844"/>
            <a:ext cx="547613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드래그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143000" y="6026869"/>
            <a:ext cx="5127650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문장을 끌면 그 자리에 팝업이 뜬다. 창을 옮기지 않는다.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6654701" y="4691583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654701" y="4939233"/>
            <a:ext cx="54762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54701" y="5445844"/>
            <a:ext cx="54762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654701" y="6026869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교정문과 역번역을 나란히 본다. 무엇이 바뀌었는지 표시된다.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2166550" y="4691583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166550" y="4939233"/>
            <a:ext cx="54762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166550" y="5445844"/>
            <a:ext cx="54762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적용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166550" y="6026869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누르면 원문이 교체된다. 마음에 안 들면 되돌린다.</a:t>
            </a:r>
            <a:endParaRPr lang="en-US" sz="2025" dirty="0"/>
          </a:p>
        </p:txBody>
      </p:sp>
      <p:sp>
        <p:nvSpPr>
          <p:cNvPr id="17" name="Text 15"/>
          <p:cNvSpPr/>
          <p:nvPr/>
        </p:nvSpPr>
        <p:spPr>
          <a:xfrm>
            <a:off x="1143000" y="8743950"/>
            <a:ext cx="1265158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529"/>
              </a:lnSpc>
              <a:buNone/>
            </a:pPr>
            <a:r>
              <a:rPr lang="en-US" sz="225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드래그 → 확인 → 적용. 15초면 끝납니다.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설계 판단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무조건 공손하게 풀지 않는가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143000" y="2948732"/>
            <a:ext cx="12142489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원문: "배포는 반드시 오늘까지 해야 합니다." — 강도는 사용자가 고른다. 긴급도는 압박을, 캐주얼은 격식을 정한다. 마감은 네 칸 모두에 살아 있다.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9134475" y="4203055"/>
            <a:ext cx="19050" cy="4163764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43000" y="6275338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4203055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캐주얼 OFF · CRITICAL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4633466"/>
            <a:ext cx="813054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be completed by today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753600" y="4203055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캐주얼 ON · CRITICAL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4633466"/>
            <a:ext cx="813054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to deploy this by today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43000" y="6456313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캐주얼 OFF · LOW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6886724"/>
            <a:ext cx="813054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you ensure… by today when you get a chance?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753600" y="6456313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캐주얼 ON · LOW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753600" y="6886724"/>
            <a:ext cx="813054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Hey, could you make sure to deploy this by today?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43000" y="8671620"/>
            <a:ext cx="13052673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정중함과 정확함 중 하나를 골라야 한다면, 우리는 정확함을 택했습니다.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차별점 · 핵심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1850000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우리는 AI를 믿지 않습니다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143000" y="2787171"/>
            <a:ext cx="176022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아래는 전부 개발 중 실제로 잡은 결함과, 코드가 지키는 방어선이다.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143000" y="345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143000" y="369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역번역이 내 언어로 안 오면 감춘다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" y="425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한→중 교정에서 역번역이 중국어로 나왔다 — 확인이 불가능해진다.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9448800" y="345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448800" y="369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이름·호칭을 만들면 경고한다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448800" y="425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수신자 「싱싱」이 上晦先生/女士로 바뀌었다 — 없는 이름과 호칭.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1143000" y="530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143000" y="554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지어낸 마감·회의를 막는다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143000" y="610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지어낸 약속은 자리표시자로 비우고, 코드가 원문과 대조한다.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9448800" y="530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448800" y="554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실패하면 실패했다고 쓴다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448800" y="610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원문을 그대로 두고 「교정하지 못했어요」를 띄운다.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143000" y="9050000"/>
            <a:ext cx="134950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확률적입니다. 그래서 프롬프트로 부탁하지 않고, 결과를 코드가 검사합니다.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143000" y="715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143000" y="739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문체가 「의미」를 바꾸지 못하게 막는다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143000" y="795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「배포하셔도 됩니다」(허가)가 Could you proceed?(요청)로 뒤집혔다.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9448800" y="715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448800" y="739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민감정보는 나가기 전에 막는다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448800" y="795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키·주민번호는 브라우저 안에서 막는다 — 네트워크를 쓰지 않는다.</a:t>
            </a:r>
            <a:endParaRPr lang="en-US" sz="20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차별점 · 신뢰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 하는 것으로 지킨다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43000" y="4755932"/>
            <a:ext cx="4978301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5003582"/>
            <a:ext cx="547613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kern="0" spc="-3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Retention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43000" y="5536982"/>
            <a:ext cx="5127650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본문을 서버·DB·로그에 저장하지 않는다. 올라가는 것은 정수 카운트뿐이고, 전용 테스트가 이를 강제한다.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654701" y="4755932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654701" y="5003582"/>
            <a:ext cx="547629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kern="0" spc="-3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국가로 판단하지 않는다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654701" y="5536982"/>
            <a:ext cx="5127803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참고하는 것은 「국민성」이 아니라 언어 사용 관례다. 코드 수준 금지 규칙으로 박아 두었다.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166550" y="4755932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166550" y="5003582"/>
            <a:ext cx="547629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kern="0" spc="-3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사람에게 점수를 매기지 않는다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166550" y="5536982"/>
            <a:ext cx="5127803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소통 가이드는 고정된 서술형 태그뿐, 숫자·등급·순위가 없다.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43000" y="8671620"/>
            <a:ext cx="1156716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본문을 안 받으면 유출될 것도 없습니다.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검증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숫자는 전부 출처가 있다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143000" y="5567932"/>
            <a:ext cx="5623143" cy="2564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55365"/>
              </a:lnSpc>
              <a:buNone/>
            </a:pPr>
            <a:r>
              <a:rPr lang="en-US" sz="25500" b="1" kern="0" spc="-765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</a:t>
            </a:r>
            <a:endParaRPr lang="en-US" sz="25500" dirty="0"/>
          </a:p>
        </p:txBody>
      </p:sp>
      <p:sp>
        <p:nvSpPr>
          <p:cNvPr id="6" name="Shape 4"/>
          <p:cNvSpPr/>
          <p:nvPr/>
        </p:nvSpPr>
        <p:spPr>
          <a:xfrm>
            <a:off x="6864548" y="6148957"/>
            <a:ext cx="19050" cy="1030486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264598" y="6148957"/>
            <a:ext cx="39618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단위 테스트 통과 / 0 실패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264598" y="6672832"/>
            <a:ext cx="396180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test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43000" y="7917210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43000" y="8241060"/>
            <a:ext cx="5476131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언어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143000" y="8701088"/>
            <a:ext cx="547613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— en zh ja de fr es ko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54701" y="8241060"/>
            <a:ext cx="5476295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검사하는 방어 규칙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654701" y="8701088"/>
            <a:ext cx="5476295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166550" y="8241060"/>
            <a:ext cx="5476295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서버에 저장된 메시지 본문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166550" y="8701088"/>
            <a:ext cx="5476295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25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시장과 실행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통역을 둘 수 없는 중간지대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134475" y="3253532"/>
            <a:ext cx="19050" cy="5185618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43000" y="583674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143000" y="3253532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규모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3702993"/>
            <a:ext cx="813054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233"/>
              </a:lnSpc>
              <a:buNone/>
            </a:pPr>
            <a:r>
              <a:rPr lang="en-US" sz="39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25,953개사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143000" y="4293543"/>
            <a:ext cx="8130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dirty="0">
                <a:solidFill>
                  <a:srgbClr val="201E1D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수출 시장 신규 진입 — 최근 5년 내 최대치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9753600" y="3253532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 구조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3702993"/>
            <a:ext cx="8130540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 무료 · 팀 구독 · 인앱 포인트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753600" y="4243983"/>
            <a:ext cx="8130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dirty="0">
                <a:solidFill>
                  <a:srgbClr val="201E1D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구독은 용어집·대시보드·보안을 포함한다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143000" y="5998666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확산 구조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3000" y="6448127"/>
            <a:ext cx="8130540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143000" y="6989118"/>
            <a:ext cx="8130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dirty="0">
                <a:solidFill>
                  <a:srgbClr val="201E1D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결재 없이 설치되고, 용어집·수신자 설정이 팀으로 번진다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753600" y="5998666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 우위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53600" y="6448127"/>
            <a:ext cx="8130540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해자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753600" y="6989118"/>
            <a:ext cx="8130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dirty="0">
                <a:solidFill>
                  <a:srgbClr val="201E1D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Grammarly는 내 글을 다듬고, 우리는 수신자를 쌓는다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1143000" y="8743950"/>
            <a:ext cx="1265158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529"/>
              </a:lnSpc>
              <a:buNone/>
            </a:pPr>
            <a:r>
              <a:rPr lang="en-US" sz="225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통역은 못 두고, 틀려도 되지는 않는다 — 기능은 베껴도 실측 규칙은 못 베낀다.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54650" y="0"/>
            <a:ext cx="133350" cy="10287000"/>
          </a:xfrm>
          <a:prstGeom prst="rect">
            <a:avLst/>
          </a:prstGeom>
          <a:solidFill>
            <a:srgbClr val="FF6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43000" y="3549402"/>
            <a:ext cx="914400" cy="57150"/>
          </a:xfrm>
          <a:prstGeom prst="rect">
            <a:avLst/>
          </a:prstGeom>
          <a:solidFill>
            <a:srgbClr val="FF6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3911352"/>
            <a:ext cx="12571250" cy="20130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235"/>
              </a:lnSpc>
              <a:buNone/>
            </a:pPr>
            <a:r>
              <a:rPr lang="en-US" sz="7200" b="1" kern="0" spc="-14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번역은 이미 잘 됩니다. 우리는 그다음을 </a:t>
            </a:r>
            <a:r>
              <a:rPr lang="en-US" sz="7200" b="1" kern="0" spc="-144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만듭니다</a:t>
            </a:r>
            <a:r>
              <a:rPr lang="en-US" sz="7200" b="1" kern="0" spc="-14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1143000" y="8521154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8730704"/>
            <a:ext cx="5542761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S·AI — Bridging People, Time, and Space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310295" y="8730704"/>
            <a:ext cx="421817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확장 · Firebase · OpenAI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908</Words>
  <Application>Microsoft Office PowerPoint</Application>
  <PresentationFormat>사용자 지정</PresentationFormat>
  <Paragraphs>123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박수홍</cp:lastModifiedBy>
  <cp:revision>2</cp:revision>
  <dcterms:created xsi:type="dcterms:W3CDTF">2026-08-20T20:18:38Z</dcterms:created>
  <dcterms:modified xsi:type="dcterms:W3CDTF">2026-08-20T20:49:54Z</dcterms:modified>
</cp:coreProperties>
</file>